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82" r:id="rId24"/>
    <p:sldId id="283" r:id="rId25"/>
    <p:sldId id="277" r:id="rId26"/>
    <p:sldId id="278" r:id="rId27"/>
    <p:sldId id="279" r:id="rId28"/>
    <p:sldId id="280" r:id="rId29"/>
  </p:sldIdLst>
  <p:sldSz cx="12192000" cy="6858000"/>
  <p:notesSz cx="6858000" cy="12192000"/>
  <p:embeddedFontLst>
    <p:embeddedFont>
      <p:font typeface="MiSans" panose="02010600030101010101" charset="-122"/>
      <p:regular r:id="rId31"/>
    </p:embeddedFont>
    <p:embeddedFont>
      <p:font typeface="等线" panose="02010600030101010101" pitchFamily="2" charset="-122"/>
      <p:regular r:id="rId32"/>
      <p:bold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2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25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6E44F-9F3C-F0D6-42A4-8647C62F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F305D-2955-5054-45E6-9AFE20299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EE592-AE95-5481-CFA8-1B3247C57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CB332-37D1-52CA-9C41-E84E13FA3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188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BC35-4840-8D0A-C446-A21F991B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B3D77-D485-E948-03C3-0D8E12531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06CA0-7BC3-F9AE-4D6E-D8F671E79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F9C59-E456-B73B-A728-58F322AFB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945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0404-0BA3-DA5C-85E0-627C2DB98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C5D1B-658A-0A78-5394-4C50DFE1F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E563B-3267-CECD-0C40-204A87C2A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A28AA-6CD3-D967-C01A-9BC3F506B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0421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pic>
        <p:nvPicPr>
          <p:cNvPr id="3" name="Image 0" descr="https://kimi-img.moonshot.cn/pub/slides/slides_tmpl/image/25-09-04-17:56:47-d2sm4nu1bb2p4onbqo5g.jpg"/>
          <p:cNvPicPr>
            <a:picLocks noChangeAspect="1"/>
          </p:cNvPicPr>
          <p:nvPr/>
        </p:nvPicPr>
        <p:blipFill>
          <a:blip r:embed="rId3"/>
          <a:srcRect b="17387"/>
          <a:stretch/>
        </p:blipFill>
        <p:spPr>
          <a:xfrm>
            <a:off x="0" y="1131570"/>
            <a:ext cx="12193270" cy="5726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58453" y="2106295"/>
            <a:ext cx="6475095" cy="1975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5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3: Scooter Rental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47-d2sm4nu1bb2p4onbqo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818" y="-3600"/>
            <a:ext cx="8025182" cy="6865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1070" y="828040"/>
            <a:ext cx="4953000" cy="9232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11759" y="809697"/>
            <a:ext cx="4953000" cy="9232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10565" y="900957"/>
            <a:ext cx="10367010" cy="769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>
                    <a:alpha val="5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56005" y="2136775"/>
            <a:ext cx="353695" cy="35433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1056005" y="2823845"/>
            <a:ext cx="353695" cy="35433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1056005" y="3520440"/>
            <a:ext cx="353695" cy="35433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1056005" y="4226560"/>
            <a:ext cx="353695" cy="35433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1056005" y="4942205"/>
            <a:ext cx="353695" cy="35433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1056005" y="5667375"/>
            <a:ext cx="353695" cy="35433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12" name="Text 9"/>
          <p:cNvSpPr/>
          <p:nvPr/>
        </p:nvSpPr>
        <p:spPr>
          <a:xfrm>
            <a:off x="1054100" y="2169160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46580" y="2225040"/>
            <a:ext cx="488759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Opening &amp; Overview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54100" y="2865755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846580" y="2921635"/>
            <a:ext cx="488759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Goals &amp; Achievements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4100" y="3571875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46580" y="3627755"/>
            <a:ext cx="488759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4100" y="4287520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846580" y="4343400"/>
            <a:ext cx="488759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 &amp; Development Process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4100" y="5012690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46580" y="5068570"/>
            <a:ext cx="488759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 &amp; Future Plans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4100" y="5747385"/>
            <a:ext cx="772795" cy="507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846580" y="5803265"/>
            <a:ext cx="488759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/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Opening &amp; Overview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3-d2sm4pe1bb2p4onbqogg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-24130" y="-243205"/>
            <a:ext cx="10607675" cy="73939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70" y="0"/>
            <a:ext cx="10591800" cy="6869430"/>
          </a:xfrm>
          <a:prstGeom prst="rect">
            <a:avLst/>
          </a:prstGeom>
          <a:gradFill flip="none" rotWithShape="1">
            <a:gsLst>
              <a:gs pos="0">
                <a:srgbClr val="D4EDF8">
                  <a:alpha val="21000"/>
                </a:srgbClr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 rot="16200000">
            <a:off x="8825230" y="516255"/>
            <a:ext cx="2173605" cy="950341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>
              <a:alpha val="0"/>
            </a:srgbClr>
          </a:solidFill>
          <a:ln w="6350">
            <a:solidFill>
              <a:srgbClr val="D3D8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16200000">
            <a:off x="8825230" y="-1892300"/>
            <a:ext cx="2173605" cy="950341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00">
              <a:alpha val="0"/>
            </a:srgbClr>
          </a:solidFill>
          <a:ln w="6350">
            <a:solidFill>
              <a:srgbClr val="D3D8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5780" y="1026160"/>
            <a:ext cx="5837555" cy="181419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>
              <a:lnSpc>
                <a:spcPct val="120000"/>
              </a:lnSpc>
            </a:pPr>
            <a:r>
              <a:rPr lang="en-US" sz="32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Presentation Kickoff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01765" y="1851660"/>
            <a:ext cx="4886325" cy="116268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Presentation Scope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33085" y="2363470"/>
            <a:ext cx="5951855" cy="141541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Today we present our Sprint 3 progress for the Scooter Rental System, covering achievements, development methodology, and upcoming plans for the next sprint cycle.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01765" y="4373880"/>
            <a:ext cx="4886325" cy="116268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Session Agenda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33085" y="4885690"/>
            <a:ext cx="5951855" cy="141541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will walk through frontend deliverables, system architecture decisions, challenges encountered, and our roadmap toward full system completion in Sprint 4.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012313"/>
            <a:ext cx="11103610" cy="5613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4900" y="2159361"/>
            <a:ext cx="637961" cy="637959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5772776" y="1692636"/>
            <a:ext cx="637540" cy="637959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540231" y="2241911"/>
            <a:ext cx="637540" cy="637959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 and Tech Stack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91333" y="2325940"/>
            <a:ext cx="6650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9130" y="3448685"/>
            <a:ext cx="3490595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Purpose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8971" y="3830955"/>
            <a:ext cx="3470913" cy="124138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web-based scooter rental platform enabling users to browse, book, and manage rentals online with convenience and efficiency.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46298" y="1859215"/>
            <a:ext cx="6650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08805" y="2708910"/>
            <a:ext cx="3490595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52303" y="3091814"/>
            <a:ext cx="3403600" cy="124138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registration and login, scooter catalog browsing, and a complete booking reservation system form the functional backbone.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26244" y="2408490"/>
            <a:ext cx="6650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57687" y="3430270"/>
            <a:ext cx="3490595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01184" y="3813176"/>
            <a:ext cx="3403600" cy="124138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 with Vite powers the frontend, Pinia manages state, Vue Router handles navigation, with Node.js backend planned.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/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Goals &amp; Achievements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48-d2sm4o61bb2p4onbqo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130" y="1568450"/>
            <a:ext cx="33655" cy="200469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7:56:48-d2sm4o61bb2p4onbqo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4009390"/>
            <a:ext cx="33655" cy="200469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7:56:48-d2sm4o61bb2p4onbqo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915" y="4024630"/>
            <a:ext cx="33655" cy="20046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7:56:48-d2sm4o61bb2p4onbqo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35" y="1584325"/>
            <a:ext cx="33655" cy="200469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7" name="Text 1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Objectives Defined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463604" y="1523999"/>
            <a:ext cx="5074923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Structure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463675" y="1977390"/>
            <a:ext cx="4185920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a complete, modular frontend codebase ready for scaling and backend integration.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1463040" y="3970020"/>
            <a:ext cx="502221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Pages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1463675" y="4479925"/>
            <a:ext cx="4153535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 Home, Login, and Booking pages as primary user-facing interfaces.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900545" y="1540510"/>
            <a:ext cx="498030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Routing &amp; State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901180" y="1994535"/>
            <a:ext cx="4180205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up Vue Router navigation and Pinia state management for seamless user experience.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900947" y="4001906"/>
            <a:ext cx="502153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Readiness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01180" y="4479925"/>
            <a:ext cx="4178935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 API layer structure so frontend can operate independently until backend is ready.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7710" y="841375"/>
            <a:ext cx="5908040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Achievements Completed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5500" y="2760980"/>
            <a:ext cx="4940935" cy="3533775"/>
          </a:xfrm>
          <a:prstGeom prst="roundRect">
            <a:avLst>
              <a:gd name="adj" fmla="val 4433"/>
            </a:avLst>
          </a:prstGeom>
          <a:solidFill>
            <a:srgbClr val="000000">
              <a:alpha val="0"/>
            </a:srgbClr>
          </a:solidFill>
          <a:ln w="12700">
            <a:solidFill>
              <a:srgbClr val="A4B6C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73985" y="2095500"/>
            <a:ext cx="1162050" cy="1162050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43650" y="2760980"/>
            <a:ext cx="4940935" cy="3533775"/>
          </a:xfrm>
          <a:prstGeom prst="roundRect">
            <a:avLst>
              <a:gd name="adj" fmla="val 4433"/>
            </a:avLst>
          </a:prstGeom>
          <a:solidFill>
            <a:srgbClr val="000000">
              <a:alpha val="0"/>
            </a:srgbClr>
          </a:solidFill>
          <a:ln w="12700">
            <a:solidFill>
              <a:srgbClr val="A4B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92135" y="2095500"/>
            <a:ext cx="1162050" cy="1162050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3665" y="2399665"/>
            <a:ext cx="120269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9570" y="3441065"/>
            <a:ext cx="3296285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Deliverables Completed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015" y="3884295"/>
            <a:ext cx="4557395" cy="1884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 Page, Login &amp; Register Page, Booking Page, Vue Router navigation, and Pinia state management are all fully implemented and operational.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71815" y="2399665"/>
            <a:ext cx="1202690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57720" y="3441065"/>
            <a:ext cx="3296285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Status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7165" y="3884295"/>
            <a:ext cx="4557395" cy="1884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frontend system is now fully functional with all pages connected, routes protected, and state flowing correctly across the application.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/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9243060" y="4307840"/>
            <a:ext cx="1858645" cy="1894205"/>
          </a:xfrm>
          <a:prstGeom prst="donut">
            <a:avLst>
              <a:gd name="adj" fmla="val 17842"/>
            </a:avLst>
          </a:prstGeom>
          <a:gradFill flip="none" rotWithShape="1">
            <a:gsLst>
              <a:gs pos="0">
                <a:srgbClr val="A4B6C2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6595110" y="787400"/>
            <a:ext cx="3042920" cy="304292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A4B6C2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6673296" y="746553"/>
            <a:ext cx="5051668" cy="17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77607" y="1297602"/>
            <a:ext cx="5568950" cy="1702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8A4D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Structure Visualization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9053" y="3310414"/>
            <a:ext cx="6068060" cy="72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Screenshot Placeholder</a:t>
            </a: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0D44FF-2CD3-4E26-27C1-18065D886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11" y="2149135"/>
            <a:ext cx="3199073" cy="310612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54092" y="1484630"/>
            <a:ext cx="3884930" cy="3137535"/>
          </a:xfrm>
          <a:prstGeom prst="roundRect">
            <a:avLst>
              <a:gd name="adj" fmla="val 7537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68655" y="4093845"/>
            <a:ext cx="6929120" cy="2217420"/>
          </a:xfrm>
          <a:prstGeom prst="roundRect">
            <a:avLst>
              <a:gd name="adj" fmla="val 7537"/>
            </a:avLst>
          </a:prstGeom>
          <a:solidFill>
            <a:srgbClr val="000000">
              <a:alpha val="0"/>
            </a:srgbClr>
          </a:solidFill>
          <a:ln w="6350">
            <a:solidFill>
              <a:srgbClr val="788FA3"/>
            </a:solidFill>
            <a:prstDash val="solid"/>
          </a:ln>
        </p:spPr>
      </p:sp>
      <p:pic>
        <p:nvPicPr>
          <p:cNvPr id="4" name="Image 0" descr="https://kimi-img.moonshot.cn/pub/slides/slides_tmpl/image/25-09-04-17:56:49-d2sm4oe1bb2p4onbqo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603" y="-8255"/>
            <a:ext cx="7448551" cy="492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8655" y="1484630"/>
            <a:ext cx="6929120" cy="2217420"/>
          </a:xfrm>
          <a:prstGeom prst="roundRect">
            <a:avLst>
              <a:gd name="adj" fmla="val 7537"/>
            </a:avLst>
          </a:prstGeom>
          <a:solidFill>
            <a:srgbClr val="000000">
              <a:alpha val="0"/>
            </a:srgbClr>
          </a:solidFill>
          <a:ln w="6350">
            <a:solidFill>
              <a:srgbClr val="788FA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 System Architecture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8700" y="1682114"/>
            <a:ext cx="508952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Components &amp; Views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8700" y="2192655"/>
            <a:ext cx="6012180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Reusable UI components and page-level views separate concerns and promote code reuse across the application.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8700" y="4253865"/>
            <a:ext cx="508952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Router &amp; Store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28700" y="4728210"/>
            <a:ext cx="6071235" cy="634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Router controls navigation flow while Pinia Store manages global application state consistently.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55610" y="1805940"/>
            <a:ext cx="3285490" cy="438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Layer</a:t>
            </a:r>
            <a:endParaRPr lang="en-US" sz="16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2B09A50-725C-8190-6D24-34B04E6C4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7378" y="2615125"/>
            <a:ext cx="3781953" cy="11812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24645" y="3373120"/>
            <a:ext cx="4029075" cy="4029075"/>
          </a:xfrm>
          <a:prstGeom prst="ellipse">
            <a:avLst/>
          </a:prstGeom>
          <a:solidFill>
            <a:srgbClr val="FFFFFF">
              <a:alpha val="10196"/>
            </a:srgbClr>
          </a:solidFill>
          <a:ln/>
        </p:spPr>
      </p:sp>
      <p:pic>
        <p:nvPicPr>
          <p:cNvPr id="3" name="Image 0" descr="https://kimi-img.moonshot.cn/pub/slides/slides_tmpl/image/25-09-04-17:56:48-d2sm4o61bb2p4onbqo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198" y="2140267"/>
            <a:ext cx="4338956" cy="4752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 rot="10800000">
            <a:off x="4872208" y="4208581"/>
            <a:ext cx="1217236" cy="187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4-17:56:47-d2sm4nu1bb2p4onbqo6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683" y="463550"/>
            <a:ext cx="495363" cy="20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9390" y="800612"/>
            <a:ext cx="756883" cy="187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</a:t>
            </a:r>
            <a:endParaRPr lang="en-US" sz="1600" dirty="0"/>
          </a:p>
        </p:txBody>
      </p:sp>
      <p:pic>
        <p:nvPicPr>
          <p:cNvPr id="7" name="Image 2" descr="https://kimi-img.moonshot.cn/pub/slides/slides_tmpl/image/25-09-04-17:56:48-d2sm4o61bb2p4onbqo7g.jpeg"/>
          <p:cNvPicPr>
            <a:picLocks noChangeAspect="1"/>
          </p:cNvPicPr>
          <p:nvPr/>
        </p:nvPicPr>
        <p:blipFill>
          <a:blip r:embed="rId5"/>
          <a:srcRect l="5449" t="5704" r="281" b="8217"/>
          <a:stretch/>
        </p:blipFill>
        <p:spPr>
          <a:xfrm>
            <a:off x="6610985" y="-20955"/>
            <a:ext cx="5677535" cy="6913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6345" y="1628775"/>
            <a:ext cx="5020945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Folder Structure Display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236345" y="3275965"/>
            <a:ext cx="4601845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236345" y="3816985"/>
            <a:ext cx="4257675" cy="179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[INSERT SCREENSHOT: api folder structure showing authApi and bookingApi files. Purpose: illustrate backend integration preparation and forward-planning for authentication and reservation endpoints.]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pic>
        <p:nvPicPr>
          <p:cNvPr id="3" name="Image 0" descr="https://kimi-img.moonshot.cn/pub/slides/slides_tmpl/image/25-09-04-17:56:48-d2sm4o61bb2p4onbqo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26" y="1465177"/>
            <a:ext cx="33872" cy="2188633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7:56:48-d2sm4o61bb2p4onbqo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23" y="3982769"/>
            <a:ext cx="33872" cy="2188633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7:56:49-d2sm4oe1bb2p4onbqo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640" y="1787525"/>
            <a:ext cx="5606417" cy="4384041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7" name="Text 2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Preparation for Integration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6007735" y="1803400"/>
            <a:ext cx="5600065" cy="4361180"/>
          </a:xfrm>
          <a:prstGeom prst="roundRect">
            <a:avLst>
              <a:gd name="adj" fmla="val 2351"/>
            </a:avLst>
          </a:prstGeom>
          <a:gradFill flip="none" rotWithShape="1">
            <a:gsLst>
              <a:gs pos="0">
                <a:srgbClr val="D4EDF8">
                  <a:alpha val="26000"/>
                </a:srgbClr>
              </a:gs>
              <a:gs pos="50000">
                <a:srgbClr val="28A4DE">
                  <a:alpha val="0"/>
                </a:srgbClr>
              </a:gs>
              <a:gs pos="100000">
                <a:srgbClr val="115372">
                  <a:alpha val="26000"/>
                </a:srgbClr>
              </a:gs>
            </a:gsLst>
            <a:lin ang="2700000" scaled="1"/>
          </a:gradFill>
          <a:ln/>
        </p:spPr>
      </p:sp>
      <p:sp>
        <p:nvSpPr>
          <p:cNvPr id="9" name="Text 4"/>
          <p:cNvSpPr/>
          <p:nvPr/>
        </p:nvSpPr>
        <p:spPr>
          <a:xfrm>
            <a:off x="1125855" y="1649730"/>
            <a:ext cx="4627245" cy="1121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 Interfaces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25855" y="2146300"/>
            <a:ext cx="4582795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authentication API and booking API structures are fully designed with endpoint definitions, request formats, and expected response schemas ready.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25855" y="4108450"/>
            <a:ext cx="4627245" cy="1121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Readiness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25855" y="4675505"/>
            <a:ext cx="4583430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requires no structural changes later; backend can plug into existing API layer seamlessly when development completes.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/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 &amp; Development Process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890" y="1750695"/>
            <a:ext cx="3416300" cy="450786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50138" y="1878330"/>
            <a:ext cx="1111168" cy="1111250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11675" y="1750695"/>
            <a:ext cx="3416300" cy="450786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3923" y="1878330"/>
            <a:ext cx="1111168" cy="1111250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5460" y="1750695"/>
            <a:ext cx="3416300" cy="450786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77708" y="1878330"/>
            <a:ext cx="1111168" cy="1111250"/>
          </a:xfrm>
          <a:prstGeom prst="ellipse">
            <a:avLst/>
          </a:prstGeom>
          <a:gradFill flip="none" rotWithShape="1">
            <a:gsLst>
              <a:gs pos="0">
                <a:srgbClr val="8496B0"/>
              </a:gs>
              <a:gs pos="100000">
                <a:srgbClr val="1A7CAA"/>
              </a:gs>
            </a:gsLst>
            <a:lin ang="2700000" scaled="1"/>
          </a:gradFill>
          <a:ln/>
          <a:effectLst>
            <a:outerShdw blurRad="290837" dist="50607" dir="2700000" algn="bl" rotWithShape="0">
              <a:srgbClr val="788FA3">
                <a:alpha val="6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9" name="Text 7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 UI Pages Completed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26920" y="2205624"/>
            <a:ext cx="1157605" cy="43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26920" y="2205624"/>
            <a:ext cx="1157605" cy="4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3138" y="3117215"/>
            <a:ext cx="3059451" cy="115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 Page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3138" y="3853902"/>
            <a:ext cx="3019802" cy="82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Serves as the system entry point with clear navigation and overview of available scooters.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40705" y="2205624"/>
            <a:ext cx="1157605" cy="43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40705" y="2205624"/>
            <a:ext cx="1157605" cy="4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8118" y="3096645"/>
            <a:ext cx="3059451" cy="115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Page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7942" y="3856721"/>
            <a:ext cx="3019802" cy="875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Provides secure user authentication interface with form validation and error handling.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54490" y="2205624"/>
            <a:ext cx="1157605" cy="4301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254490" y="2205624"/>
            <a:ext cx="1157605" cy="4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61903" y="3177041"/>
            <a:ext cx="3059451" cy="115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Booking Page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1552" y="3835207"/>
            <a:ext cx="3019802" cy="861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Enables scooter reservation with date selection, availability check, and confirmation flow.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034" y="282066"/>
            <a:ext cx="1217238" cy="187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 rot="10800000">
            <a:off x="10707284" y="4715701"/>
            <a:ext cx="1217238" cy="1870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8653" y="461868"/>
            <a:ext cx="4704139" cy="42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 Screenshots User Flow Demo</a:t>
            </a:r>
            <a:endParaRPr 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D515208-2FEC-5FC0-489F-CE25A03D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95" y="1115992"/>
            <a:ext cx="4907389" cy="26184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9D96F3-7D56-B97E-B547-56E638208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761" y="2425207"/>
            <a:ext cx="4885045" cy="26184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BBC21CD-0F5B-5520-2F0D-A667F5884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95" y="4022681"/>
            <a:ext cx="4900867" cy="2618430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BBA7A27B-E1A1-A746-4E67-AE1E5C7B62BB}"/>
              </a:ext>
            </a:extLst>
          </p:cNvPr>
          <p:cNvSpPr/>
          <p:nvPr/>
        </p:nvSpPr>
        <p:spPr>
          <a:xfrm>
            <a:off x="5305084" y="1154128"/>
            <a:ext cx="1644577" cy="42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</a:t>
            </a:r>
            <a:endParaRPr lang="en-US" sz="1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740E3FAF-9414-C237-C96F-0E74140D8106}"/>
              </a:ext>
            </a:extLst>
          </p:cNvPr>
          <p:cNvSpPr/>
          <p:nvPr/>
        </p:nvSpPr>
        <p:spPr>
          <a:xfrm>
            <a:off x="10707284" y="2752361"/>
            <a:ext cx="1644577" cy="42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0DE79A9-BA3B-29C7-3477-086B732B9178}"/>
              </a:ext>
            </a:extLst>
          </p:cNvPr>
          <p:cNvSpPr/>
          <p:nvPr/>
        </p:nvSpPr>
        <p:spPr>
          <a:xfrm>
            <a:off x="5430040" y="5493371"/>
            <a:ext cx="1644577" cy="42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BOOKING</a:t>
            </a:r>
            <a:endParaRPr lang="en-US" sz="2400" dirty="0">
              <a:solidFill>
                <a:schemeClr val="tx2">
                  <a:lumMod val="60000"/>
                  <a:lumOff val="40000"/>
                </a:schemeClr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6880" y="2132965"/>
            <a:ext cx="5857240" cy="5857240"/>
          </a:xfrm>
          <a:prstGeom prst="ellipse">
            <a:avLst/>
          </a:prstGeom>
          <a:solidFill>
            <a:srgbClr val="DCFB60">
              <a:alpha val="5098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pic>
        <p:nvPicPr>
          <p:cNvPr id="4" name="Image 0" descr="https://kimi-img.moonshot.cn/pub/slides/slides_tmpl/image/25-09-04-17:56:48-d2sm4o61bb2p4onbqo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63" y="2159393"/>
            <a:ext cx="4338958" cy="4752344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7:56:49-d2sm4oe1bb2p4onbqo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132" y="13109"/>
            <a:ext cx="2901666" cy="191960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6200000">
            <a:off x="5532754" y="-27941"/>
            <a:ext cx="6896737" cy="6896736"/>
          </a:xfrm>
          <a:custGeom>
            <a:avLst/>
            <a:gdLst/>
            <a:ahLst/>
            <a:cxnLst/>
            <a:rect l="l" t="t" r="r" b="b"/>
            <a:pathLst>
              <a:path w="6896737" h="6896736">
                <a:moveTo>
                  <a:pt x="0" y="1379347"/>
                </a:moveTo>
                <a:lnTo>
                  <a:pt x="6896737" y="0"/>
                </a:lnTo>
                <a:lnTo>
                  <a:pt x="6896737" y="6896736"/>
                </a:lnTo>
                <a:lnTo>
                  <a:pt x="0" y="6896736"/>
                </a:lnTo>
                <a:close/>
              </a:path>
            </a:pathLst>
          </a:custGeom>
          <a:solidFill>
            <a:srgbClr val="F4F4F5"/>
          </a:solidFill>
          <a:ln/>
        </p:spPr>
      </p:sp>
      <p:sp>
        <p:nvSpPr>
          <p:cNvPr id="7" name="Text 3"/>
          <p:cNvSpPr/>
          <p:nvPr/>
        </p:nvSpPr>
        <p:spPr>
          <a:xfrm>
            <a:off x="887729" y="478154"/>
            <a:ext cx="4473578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Agile Development Process Followed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89635" y="1900555"/>
            <a:ext cx="490664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Backlog Planning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89633" y="2332989"/>
            <a:ext cx="3862073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Tasks prioritized and tracked through sprint backlog for focused feature delivery.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89000" y="4274820"/>
            <a:ext cx="49707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Feature Development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89633" y="4763770"/>
            <a:ext cx="3832228" cy="86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Incremental feature-based coding ensures each component is complete before moving forward.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6055" y="1959610"/>
            <a:ext cx="49847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32063" y="2294253"/>
            <a:ext cx="3862071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manages code history, branching, and collaborative merges across the team.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72250" y="4236085"/>
            <a:ext cx="497141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713343" y="4725034"/>
            <a:ext cx="3832227" cy="57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Weekly meetings and continuous testing catch issues early and maintain stability.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5" name="Text 1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Commit History Evidence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02030" y="1599565"/>
            <a:ext cx="8907780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Screenshot Placeholder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18804" y="2166620"/>
            <a:ext cx="10412756" cy="231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52B6D09-1CF7-070C-5E99-C55E20054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80" y="2326595"/>
            <a:ext cx="5911137" cy="23685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3CCF873-8563-070E-D3CC-D9A1B5F1C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080" y="5124788"/>
            <a:ext cx="5917197" cy="11205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/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 &amp; Future Plans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49-d2sm4oe1bb2p4onbqobg.jpeg"/>
          <p:cNvPicPr>
            <a:picLocks noChangeAspect="1"/>
          </p:cNvPicPr>
          <p:nvPr/>
        </p:nvPicPr>
        <p:blipFill>
          <a:blip r:embed="rId3">
            <a:alphaModFix amt="60000"/>
          </a:blip>
          <a:srcRect l="8038" t="12855" b="10906"/>
          <a:stretch/>
        </p:blipFill>
        <p:spPr>
          <a:xfrm>
            <a:off x="0" y="2540"/>
            <a:ext cx="546608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7465" y="-62865"/>
            <a:ext cx="5473700" cy="691324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D4EDF8">
                  <a:alpha val="26000"/>
                </a:srgbClr>
              </a:gs>
              <a:gs pos="50000">
                <a:srgbClr val="28A4DE">
                  <a:alpha val="0"/>
                </a:srgbClr>
              </a:gs>
              <a:gs pos="100000">
                <a:srgbClr val="115372">
                  <a:alpha val="26000"/>
                </a:srgbClr>
              </a:gs>
            </a:gsLst>
            <a:lin ang="2700000" scaled="1"/>
          </a:gradFill>
          <a:ln/>
        </p:spPr>
      </p:sp>
      <p:pic>
        <p:nvPicPr>
          <p:cNvPr id="4" name="Image 1" descr="https://kimi-img.moonshot.cn/pub/slides/slides_tmpl/image/25-09-04-17:56:49-d2sm4oe1bb2p4onbqo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103" y="127000"/>
            <a:ext cx="7448551" cy="49276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4-17:56:48-d2sm4o61bb2p4onbqo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743438" y="-306388"/>
            <a:ext cx="4338956" cy="4752341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4-17:56:48-d2sm4o61bb2p4onbqo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5198" y="2140267"/>
            <a:ext cx="4338956" cy="4752341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 rot="16200000">
            <a:off x="7122795" y="1765300"/>
            <a:ext cx="6875780" cy="3311525"/>
          </a:xfrm>
          <a:prstGeom prst="rect">
            <a:avLst/>
          </a:prstGeom>
          <a:solidFill>
            <a:srgbClr val="D3D8E0"/>
          </a:solidFill>
          <a:ln/>
        </p:spPr>
      </p:sp>
      <p:sp>
        <p:nvSpPr>
          <p:cNvPr id="8" name="Text 2"/>
          <p:cNvSpPr/>
          <p:nvPr/>
        </p:nvSpPr>
        <p:spPr>
          <a:xfrm>
            <a:off x="661670" y="1061085"/>
            <a:ext cx="4478655" cy="2112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 Faced and Solutions Applied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880735" y="1061085"/>
            <a:ext cx="27482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880734" y="3161664"/>
            <a:ext cx="2664462" cy="2219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was unavailable during frontend development, and API integration could not be tested live, creating dependency risks for the sprint timeline.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9145270" y="1061085"/>
            <a:ext cx="27482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Applied Solutions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145268" y="3161664"/>
            <a:ext cx="2664462" cy="1902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designed API contracts in advance, developed frontend independently with mock data, and scheduled full integration for Sprint 4 to maintain velocity.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348105" y="100965"/>
            <a:ext cx="6858000" cy="665607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28A4DE">
                  <a:alpha val="9000"/>
                </a:srgbClr>
              </a:gs>
              <a:gs pos="54000">
                <a:srgbClr val="28A4DE">
                  <a:alpha val="9000"/>
                </a:srgbClr>
              </a:gs>
              <a:gs pos="100000">
                <a:srgbClr val="232322">
                  <a:alpha val="0"/>
                </a:srgbClr>
              </a:gs>
            </a:gsLst>
            <a:lin ang="13500000" scaled="1"/>
          </a:gradFill>
          <a:ln/>
        </p:spPr>
      </p:sp>
      <p:pic>
        <p:nvPicPr>
          <p:cNvPr id="3" name="Image 0" descr="https://kimi-img.moonshot.cn/pub/slides/slides_tmpl/image/25-09-04-17:56:52-d2sm4p61bb2p4onbqog0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13335"/>
            <a:ext cx="539305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535" y="2781300"/>
            <a:ext cx="4161790" cy="18376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4 Plan for Full Completion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78500" y="715010"/>
            <a:ext cx="5092700" cy="459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&amp; Database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78500" y="1125220"/>
            <a:ext cx="5083175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 Node.js backend services and establish database connections for persistent data storage.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03035" y="2703830"/>
            <a:ext cx="5092700" cy="459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&amp; Auth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02400" y="3114040"/>
            <a:ext cx="5083175" cy="14846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 frontend APIs, implement authentication system, and build payment processing module.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79135" y="4692015"/>
            <a:ext cx="5092700" cy="4597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Testing &amp; Docs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78500" y="5102225"/>
            <a:ext cx="5083175" cy="14846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full system testing and finalize technical documentation for project delivery.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A9BFD-0EC6-CA60-2549-64FBDAB6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>
            <a:extLst>
              <a:ext uri="{FF2B5EF4-FFF2-40B4-BE49-F238E27FC236}">
                <a16:creationId xmlns:a16="http://schemas.microsoft.com/office/drawing/2014/main" id="{B99B5E69-82C4-31B7-210C-AB7E2B833D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0D6B281-2CC5-E932-1D79-FA9AC8C47758}"/>
              </a:ext>
            </a:extLst>
          </p:cNvPr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C36520D-98C3-2DC2-D050-A4E1F1E0EF59}"/>
              </a:ext>
            </a:extLst>
          </p:cNvPr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775E3E-492E-9291-6A58-DD4DC6FA52D8}"/>
              </a:ext>
            </a:extLst>
          </p:cNvPr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GB" altLang="zh-CN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Meeting Notes</a:t>
            </a:r>
            <a:endParaRPr lang="en-US" sz="4400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541791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18975-D903-3E2E-7014-C406BF0B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E683CCA-AABA-0B7D-7D72-B7F230422C48}"/>
              </a:ext>
            </a:extLst>
          </p:cNvPr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86EF7FB-1FFE-0197-E65D-0D7B29E8790E}"/>
              </a:ext>
            </a:extLst>
          </p:cNvPr>
          <p:cNvSpPr/>
          <p:nvPr/>
        </p:nvSpPr>
        <p:spPr>
          <a:xfrm>
            <a:off x="970280" y="514350"/>
            <a:ext cx="10520680" cy="61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en-GB" altLang="zh-CN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Meeting Minutes &amp; Action Plan </a:t>
            </a:r>
            <a:endParaRPr lang="en-US" sz="3600" dirty="0">
              <a:solidFill>
                <a:srgbClr val="218EC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E466E19-3690-CA24-1D37-A95F8B59C256}"/>
              </a:ext>
            </a:extLst>
          </p:cNvPr>
          <p:cNvSpPr/>
          <p:nvPr/>
        </p:nvSpPr>
        <p:spPr>
          <a:xfrm>
            <a:off x="505844" y="2023909"/>
            <a:ext cx="4456017" cy="456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/>
            <a:r>
              <a:rPr lang="en-GB" altLang="zh-CN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Decisions &amp; Improvements</a:t>
            </a:r>
            <a:endParaRPr lang="en-US" sz="2400" dirty="0">
              <a:solidFill>
                <a:srgbClr val="7EC9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8742B97-A05B-7FD7-0E09-81D1A60215F8}"/>
              </a:ext>
            </a:extLst>
          </p:cNvPr>
          <p:cNvSpPr/>
          <p:nvPr/>
        </p:nvSpPr>
        <p:spPr>
          <a:xfrm>
            <a:off x="1018804" y="2166620"/>
            <a:ext cx="10412756" cy="231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E97311-0C8B-B22C-C9CF-DE5DC5D4D5C8}"/>
              </a:ext>
            </a:extLst>
          </p:cNvPr>
          <p:cNvSpPr txBox="1"/>
          <p:nvPr/>
        </p:nvSpPr>
        <p:spPr>
          <a:xfrm>
            <a:off x="318978" y="3017962"/>
            <a:ext cx="5139069" cy="258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Language Consistency: Unify all UI text to English to ensure a consistent user experience.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Authenticity: Replace placeholder images with real scooter photos and implement image zooming features.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Logic: Enhance the "dockless" model by adding GPS tracking simulation, battery monitoring, and fine calculation logic.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Compliance: Add insurance explanations and liability disclaimers to improve system legality.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343F6-5AEF-E67D-FEC7-64F050D31C9B}"/>
              </a:ext>
            </a:extLst>
          </p:cNvPr>
          <p:cNvSpPr txBox="1"/>
          <p:nvPr/>
        </p:nvSpPr>
        <p:spPr>
          <a:xfrm>
            <a:off x="6225182" y="19357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 Items</a:t>
            </a:r>
            <a:endParaRPr lang="zh-CN" altLang="en-US" sz="2400" dirty="0">
              <a:solidFill>
                <a:srgbClr val="7EC9EB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2E7E53D-9E59-205C-52D9-3AC4BC7A2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50498"/>
              </p:ext>
            </p:extLst>
          </p:nvPr>
        </p:nvGraphicFramePr>
        <p:xfrm>
          <a:off x="5848520" y="2628285"/>
          <a:ext cx="6096000" cy="3456054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11761194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671207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1254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Assignee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Deadline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722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Add real scooter images to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Zhang Rui peng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2026-04-28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283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Unify UI language to 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Zhao Zishuo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2026-04-28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108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Implement GPS &amp; Battery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Wang Yusen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2026-04-28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05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Improve rental business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Liu Yutong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2026-04-28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10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Add safety disclaimer &amp; legal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400" kern="120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Feng Junda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-285750" algn="just" defTabSz="914400" rtl="0" eaLnBrk="1" latinLnBrk="0" hangingPunct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kern="1200" dirty="0">
                          <a:solidFill>
                            <a:srgbClr val="FFFFFF"/>
                          </a:solidFill>
                          <a:latin typeface="MiSans" pitchFamily="34" charset="0"/>
                          <a:ea typeface="MiSans" pitchFamily="34" charset="-122"/>
                          <a:cs typeface="MiSans" pitchFamily="34" charset="-120"/>
                        </a:rPr>
                        <a:t>2026-04-28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98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79251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56CAC-08FB-8B2F-EF1E-5111B690C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F70AAC03-DB1C-18BA-8221-5F30C5F8CEEE}"/>
              </a:ext>
            </a:extLst>
          </p:cNvPr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13EC933-02F6-EBE8-A659-1457FEE20794}"/>
              </a:ext>
            </a:extLst>
          </p:cNvPr>
          <p:cNvSpPr/>
          <p:nvPr/>
        </p:nvSpPr>
        <p:spPr>
          <a:xfrm>
            <a:off x="3930089" y="1299879"/>
            <a:ext cx="4331822" cy="821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218EC1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Meeting 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218EC1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notes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218EC1"/>
              </a:solidFill>
              <a:effectLst/>
              <a:uLnTx/>
              <a:uFillTx/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99F3F29-7A21-134F-0787-8F2CBEC3E885}"/>
              </a:ext>
            </a:extLst>
          </p:cNvPr>
          <p:cNvSpPr/>
          <p:nvPr/>
        </p:nvSpPr>
        <p:spPr>
          <a:xfrm>
            <a:off x="1018804" y="2166620"/>
            <a:ext cx="10412756" cy="231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E8A454-203C-94DA-E1A0-5A54B2BC8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963" y="2898814"/>
            <a:ext cx="9952074" cy="320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4945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7:56:50-d2sm4om1bb2p4onbqoe0.png"/>
          <p:cNvPicPr>
            <a:picLocks noChangeAspect="1"/>
          </p:cNvPicPr>
          <p:nvPr/>
        </p:nvPicPr>
        <p:blipFill>
          <a:blip r:embed="rId3"/>
          <a:srcRect l="8389" t="15000"/>
          <a:stretch/>
        </p:blipFill>
        <p:spPr>
          <a:xfrm>
            <a:off x="0" y="0"/>
            <a:ext cx="12193200" cy="68565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459230" y="2247900"/>
            <a:ext cx="161290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40180" y="3517900"/>
            <a:ext cx="5314315" cy="118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6545" y="1449705"/>
            <a:ext cx="7505700" cy="1700530"/>
          </a:xfrm>
          <a:prstGeom prst="roundRect">
            <a:avLst>
              <a:gd name="adj" fmla="val 4248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pic>
        <p:nvPicPr>
          <p:cNvPr id="3" name="Image 0" descr="https://kimi-img.moonshot.cn/pub/slides/slides_tmpl/image/25-09-04-17:56:51-d2sm4ou1bb2p4onbqofg.jpg"/>
          <p:cNvPicPr>
            <a:picLocks noChangeAspect="1"/>
          </p:cNvPicPr>
          <p:nvPr/>
        </p:nvPicPr>
        <p:blipFill>
          <a:blip r:embed="rId3"/>
          <a:srcRect l="30741" t="4671" r="31441"/>
          <a:stretch/>
        </p:blipFill>
        <p:spPr>
          <a:xfrm>
            <a:off x="537845" y="1432560"/>
            <a:ext cx="3388360" cy="48044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89095" y="3265805"/>
            <a:ext cx="3619500" cy="2957195"/>
          </a:xfrm>
          <a:prstGeom prst="roundRect">
            <a:avLst>
              <a:gd name="adj" fmla="val 4248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92745" y="3265805"/>
            <a:ext cx="3619500" cy="2957195"/>
          </a:xfrm>
          <a:prstGeom prst="roundRect">
            <a:avLst>
              <a:gd name="adj" fmla="val 4248"/>
            </a:avLst>
          </a:prstGeom>
          <a:gradFill flip="none" rotWithShape="1">
            <a:gsLst>
              <a:gs pos="0">
                <a:srgbClr val="788FA3">
                  <a:alpha val="39000"/>
                </a:srgbClr>
              </a:gs>
              <a:gs pos="22000">
                <a:srgbClr val="788FA3">
                  <a:alpha val="36000"/>
                </a:srgbClr>
              </a:gs>
              <a:gs pos="54000">
                <a:srgbClr val="788FA3">
                  <a:alpha val="7000"/>
                </a:srgbClr>
              </a:gs>
              <a:gs pos="100000">
                <a:srgbClr val="232322">
                  <a:alpha val="15000"/>
                </a:srgbClr>
              </a:gs>
            </a:gsLst>
            <a:lin ang="13500000" scaled="1"/>
          </a:gradFill>
          <a:ln w="6350">
            <a:solidFill>
              <a:srgbClr val="788FA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Sprint 3 Achievements Summary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277995" y="1582420"/>
            <a:ext cx="6160135" cy="40195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Complete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21810" y="2058670"/>
            <a:ext cx="7278370" cy="1259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user-facing pages are built, routed, and state-managed for immediate use.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90390" y="3369310"/>
            <a:ext cx="3218180" cy="76771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Clean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90390" y="3975100"/>
            <a:ext cx="3218180" cy="25406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 folder structure and component design ensure long-term maintainability.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94040" y="3369310"/>
            <a:ext cx="3218180" cy="76771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Ready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94040" y="3975100"/>
            <a:ext cx="3218180" cy="25406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 layer prepared so backend development can commence without frontend rework.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105" y="403225"/>
            <a:ext cx="600710" cy="601980"/>
          </a:xfrm>
          <a:prstGeom prst="ellipse">
            <a:avLst/>
          </a:prstGeom>
          <a:gradFill flip="none" rotWithShape="1">
            <a:gsLst>
              <a:gs pos="0">
                <a:srgbClr val="28A4DE"/>
              </a:gs>
              <a:gs pos="81000">
                <a:srgbClr val="C5C9CE">
                  <a:alpha val="0"/>
                </a:srgbClr>
              </a:gs>
              <a:gs pos="100000">
                <a:srgbClr val="C5C9CE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970280" y="514350"/>
            <a:ext cx="1052068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218EC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 and Q&amp;A Invitation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4-17:56:47-d2sm4nu1bb2p4onbqo50.jpeg"/>
          <p:cNvPicPr>
            <a:picLocks noChangeAspect="1"/>
          </p:cNvPicPr>
          <p:nvPr/>
        </p:nvPicPr>
        <p:blipFill>
          <a:blip r:embed="rId3"/>
          <a:srcRect l="5154" t="22492" r="7828" b="23466"/>
          <a:stretch/>
        </p:blipFill>
        <p:spPr>
          <a:xfrm>
            <a:off x="12065" y="3619500"/>
            <a:ext cx="12169140" cy="32391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" y="3620135"/>
            <a:ext cx="12181205" cy="3237865"/>
          </a:xfrm>
          <a:prstGeom prst="rect">
            <a:avLst/>
          </a:prstGeom>
          <a:solidFill>
            <a:srgbClr val="788FA3">
              <a:alpha val="1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95535" y="1610360"/>
            <a:ext cx="8907780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7EC9E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Closing Remarks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2309" y="2177415"/>
            <a:ext cx="10412756" cy="231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 for your attention. We welcome any questions about our Sprint 3 progress, technical decisions, or plans for Sprint 4 completion.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  <a:ln/>
        </p:spPr>
      </p:sp>
      <p:pic>
        <p:nvPicPr>
          <p:cNvPr id="3" name="Image 0" descr="https://kimi-img.moonshot.cn/pub/slides/slides_tmpl/image/25-09-04-17:56:51-d2sm4ou1bb2p4onbqof0.png"/>
          <p:cNvPicPr>
            <a:picLocks noChangeAspect="1"/>
          </p:cNvPicPr>
          <p:nvPr/>
        </p:nvPicPr>
        <p:blipFill>
          <a:blip r:embed="rId3"/>
          <a:srcRect t="2586" b="6812"/>
          <a:stretch/>
        </p:blipFill>
        <p:spPr>
          <a:xfrm>
            <a:off x="0" y="0"/>
            <a:ext cx="12214860" cy="692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7633" y="2458084"/>
            <a:ext cx="7772718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0000"/>
      </a:accent1>
      <a:accent2>
        <a:srgbClr val="35434E"/>
      </a:accent2>
      <a:accent3>
        <a:srgbClr val="C5C9CE"/>
      </a:accent3>
      <a:accent4>
        <a:srgbClr val="FFFFFF"/>
      </a:accent4>
      <a:accent5>
        <a:srgbClr val="808080"/>
      </a:accent5>
      <a:accent6>
        <a:srgbClr val="28A4D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942</Words>
  <Application>Microsoft Office PowerPoint</Application>
  <PresentationFormat>宽屏</PresentationFormat>
  <Paragraphs>182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MiSans</vt:lpstr>
      <vt:lpstr>Calibri</vt:lpstr>
      <vt:lpstr>等线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3: Scooter Rental System</dc:title>
  <dc:subject>Sprint 3: Scooter Rental System</dc:subject>
  <dc:creator>Kimi</dc:creator>
  <cp:lastModifiedBy>昱佟 刘</cp:lastModifiedBy>
  <cp:revision>3</cp:revision>
  <dcterms:created xsi:type="dcterms:W3CDTF">2026-04-26T17:18:47Z</dcterms:created>
  <dcterms:modified xsi:type="dcterms:W3CDTF">2026-04-26T17:53:25Z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{"Label":"Sprint 3: Scooter Rental System","ContentProducer":"001191110108MACG2KBH8F10000","ProduceID":"19dcac36-20c2-80d4-8000-0000d79cd4bd","ReservedCode1":"","ContentPropagator":"001191110108MACG2KBH8F20000","PropagateID":"19dcac36-20c2-80d4-8000-0000d79cd4bd","ReservedCode2":""}</vt:lpwstr>
  </property>
</Properties>
</file>